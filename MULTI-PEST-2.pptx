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8"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8ADF9-CCAD-85C9-FE66-99005AFC48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DCB9F4-B5DB-FDD2-E1CF-97EB5279E3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9BB0051-A881-BC5B-A257-B10BD9BA3888}"/>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5" name="Footer Placeholder 4">
            <a:extLst>
              <a:ext uri="{FF2B5EF4-FFF2-40B4-BE49-F238E27FC236}">
                <a16:creationId xmlns:a16="http://schemas.microsoft.com/office/drawing/2014/main" id="{F76EF190-46FB-1BD6-A0CB-1C07EBB190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EFDB21-8A93-DACE-238C-060C0C0DA1CD}"/>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924754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D5C91-41BF-2E55-E78E-5A25543596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301C8D-C21C-6A79-811A-2E8F432437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404C96-D33C-37F4-4D8C-0D808DAE83E7}"/>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5" name="Footer Placeholder 4">
            <a:extLst>
              <a:ext uri="{FF2B5EF4-FFF2-40B4-BE49-F238E27FC236}">
                <a16:creationId xmlns:a16="http://schemas.microsoft.com/office/drawing/2014/main" id="{E37447FC-7995-788F-B6BC-5449A47C75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99BA26-EA38-B0D0-6335-A40217D005E4}"/>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303839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CF86E-0E84-90C0-59ED-E6351EE1B9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C4578D-33E7-312E-56C4-317B12EB77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A5B867-9201-554A-5D40-A254C4FCF981}"/>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5" name="Footer Placeholder 4">
            <a:extLst>
              <a:ext uri="{FF2B5EF4-FFF2-40B4-BE49-F238E27FC236}">
                <a16:creationId xmlns:a16="http://schemas.microsoft.com/office/drawing/2014/main" id="{3337D6B0-50E1-4366-3A63-2CCFA75232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4D65BC-3FB7-EE80-7785-F0D3C4F37B79}"/>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11911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EC63-645D-5A37-489B-432FDC1869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2485E4-231F-CD14-8315-64CF972060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AB78C2-DCD0-6033-C3AA-FAD5838F1D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CF8BFF-5C05-3A0D-9E01-17BC970ACBF8}"/>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6" name="Footer Placeholder 5">
            <a:extLst>
              <a:ext uri="{FF2B5EF4-FFF2-40B4-BE49-F238E27FC236}">
                <a16:creationId xmlns:a16="http://schemas.microsoft.com/office/drawing/2014/main" id="{0F4E292A-8682-9351-6518-D5CBB2D19D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7483B4-AD56-F4BA-59BE-E4C6F76016EA}"/>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3406818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C530F-9E74-96C3-5344-B0E0F81BCB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22CA3D-406E-8AD9-CA1B-0FD9CC9E03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42B036-F6FA-578B-1A72-5AAA137C64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1E6DC7E-7FC5-3C9D-559D-0D8CDBDBDE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8361DD-C838-6329-45F0-BBB39F8446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220D96-17B7-DBA3-EE59-2965FFF9CCB0}"/>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8" name="Footer Placeholder 7">
            <a:extLst>
              <a:ext uri="{FF2B5EF4-FFF2-40B4-BE49-F238E27FC236}">
                <a16:creationId xmlns:a16="http://schemas.microsoft.com/office/drawing/2014/main" id="{B0C6F0B3-35E8-427C-8EC9-BB96807451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DC2BD2-6EF6-11BB-2C87-9B4EF1D2E6D3}"/>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762225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287DF-EC31-4F2D-AA15-25BAF1CBD1A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C346DC5-75DE-EBAF-1587-54C47130851A}"/>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4" name="Footer Placeholder 3">
            <a:extLst>
              <a:ext uri="{FF2B5EF4-FFF2-40B4-BE49-F238E27FC236}">
                <a16:creationId xmlns:a16="http://schemas.microsoft.com/office/drawing/2014/main" id="{6C865DF9-49BD-7E50-7420-3FB5AA4CE87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5FCD0D-9D41-312C-5EB3-A6471E974DF1}"/>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3576848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A28C20-8E8F-951D-F0B5-484734E212CE}"/>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3" name="Footer Placeholder 2">
            <a:extLst>
              <a:ext uri="{FF2B5EF4-FFF2-40B4-BE49-F238E27FC236}">
                <a16:creationId xmlns:a16="http://schemas.microsoft.com/office/drawing/2014/main" id="{DE9C20E3-CE25-8E11-9F98-A5D3249604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077EAD-21EA-FBA0-22C1-BD0BE08D9989}"/>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1111447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5C399-D295-075C-702F-D824C92AC6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49C6BC-0B46-BB32-F502-91CFD2447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B3B2F9-2868-D478-4B9D-483F931AD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B6A9B-4CB3-1AC5-C61D-792B3B076941}"/>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6" name="Footer Placeholder 5">
            <a:extLst>
              <a:ext uri="{FF2B5EF4-FFF2-40B4-BE49-F238E27FC236}">
                <a16:creationId xmlns:a16="http://schemas.microsoft.com/office/drawing/2014/main" id="{2AC01CBB-A75B-E152-5A6F-9AA35067F5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F35783-76CA-8295-5B6D-1458540A2CF1}"/>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1294318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04AD-0991-4ACA-2B07-157007C311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481322C-1764-9C1A-AF43-E9E401A29D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10FB5B6-D7EA-253A-7E43-52E054FFC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165819-183F-9C62-8D7E-D539E5028FC7}"/>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6" name="Footer Placeholder 5">
            <a:extLst>
              <a:ext uri="{FF2B5EF4-FFF2-40B4-BE49-F238E27FC236}">
                <a16:creationId xmlns:a16="http://schemas.microsoft.com/office/drawing/2014/main" id="{3A026B71-B83C-C2F0-2EAE-57756CDE64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3B0A5-179F-986A-F0D9-09887FABB2E2}"/>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124741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2385C-06D3-F022-4985-906CDC3683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3569F0-07F7-71D3-0599-CDF903A698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8F5F23-E8CD-80B3-2E54-1CFC0217468F}"/>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5" name="Footer Placeholder 4">
            <a:extLst>
              <a:ext uri="{FF2B5EF4-FFF2-40B4-BE49-F238E27FC236}">
                <a16:creationId xmlns:a16="http://schemas.microsoft.com/office/drawing/2014/main" id="{B296CD2C-3A2E-3760-1D68-11266FF89D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1082F1-320B-5312-A2EA-3CBC7D27C592}"/>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2872343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8ECF-44CC-127D-0F79-D4908B4558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9F51D3-37AA-D124-981C-F39CF59563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6B562-8A65-C193-C25B-3A7481580497}"/>
              </a:ext>
            </a:extLst>
          </p:cNvPr>
          <p:cNvSpPr>
            <a:spLocks noGrp="1"/>
          </p:cNvSpPr>
          <p:nvPr>
            <p:ph type="dt" sz="half" idx="10"/>
          </p:nvPr>
        </p:nvSpPr>
        <p:spPr/>
        <p:txBody>
          <a:bodyPr/>
          <a:lstStyle/>
          <a:p>
            <a:fld id="{B72B36A9-3BCB-4FFA-94A3-5224CEDDBF09}" type="datetimeFigureOut">
              <a:rPr lang="en-IN" smtClean="0"/>
              <a:t>16-02-2026</a:t>
            </a:fld>
            <a:endParaRPr lang="en-IN"/>
          </a:p>
        </p:txBody>
      </p:sp>
      <p:sp>
        <p:nvSpPr>
          <p:cNvPr id="5" name="Footer Placeholder 4">
            <a:extLst>
              <a:ext uri="{FF2B5EF4-FFF2-40B4-BE49-F238E27FC236}">
                <a16:creationId xmlns:a16="http://schemas.microsoft.com/office/drawing/2014/main" id="{BF698971-F7E3-ABBF-CD5A-0E546C6E94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4067E0-7BBF-8286-9216-19457A89AD46}"/>
              </a:ext>
            </a:extLst>
          </p:cNvPr>
          <p:cNvSpPr>
            <a:spLocks noGrp="1"/>
          </p:cNvSpPr>
          <p:nvPr>
            <p:ph type="sldNum" sz="quarter" idx="12"/>
          </p:nvPr>
        </p:nvSpPr>
        <p:spPr/>
        <p:txBody>
          <a:bodyPr/>
          <a:lstStyle/>
          <a:p>
            <a:fld id="{E10B1F5D-8135-4945-A34D-B44E974F9A65}" type="slidenum">
              <a:rPr lang="en-IN" smtClean="0"/>
              <a:t>‹#›</a:t>
            </a:fld>
            <a:endParaRPr lang="en-IN"/>
          </a:p>
        </p:txBody>
      </p:sp>
    </p:spTree>
    <p:extLst>
      <p:ext uri="{BB962C8B-B14F-4D97-AF65-F5344CB8AC3E}">
        <p14:creationId xmlns:p14="http://schemas.microsoft.com/office/powerpoint/2010/main" val="3137065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2FDE4-0264-2BCC-5385-9FF4CC9D5D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366A1A-5206-8637-D415-2E8239C16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7BC5A8-3F36-A6A0-9EBD-C33C90836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2B36A9-3BCB-4FFA-94A3-5224CEDDBF09}" type="datetimeFigureOut">
              <a:rPr lang="en-IN" smtClean="0"/>
              <a:t>16-02-2026</a:t>
            </a:fld>
            <a:endParaRPr lang="en-IN"/>
          </a:p>
        </p:txBody>
      </p:sp>
      <p:sp>
        <p:nvSpPr>
          <p:cNvPr id="5" name="Footer Placeholder 4">
            <a:extLst>
              <a:ext uri="{FF2B5EF4-FFF2-40B4-BE49-F238E27FC236}">
                <a16:creationId xmlns:a16="http://schemas.microsoft.com/office/drawing/2014/main" id="{7F26F258-6776-D9A4-6FEC-25B29EC2A7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16B948-D80F-62F6-FFCF-4D446B79D4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0B1F5D-8135-4945-A34D-B44E974F9A65}" type="slidenum">
              <a:rPr lang="en-IN" smtClean="0"/>
              <a:t>‹#›</a:t>
            </a:fld>
            <a:endParaRPr lang="en-IN"/>
          </a:p>
        </p:txBody>
      </p:sp>
    </p:spTree>
    <p:extLst>
      <p:ext uri="{BB962C8B-B14F-4D97-AF65-F5344CB8AC3E}">
        <p14:creationId xmlns:p14="http://schemas.microsoft.com/office/powerpoint/2010/main" val="3020241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F9793-67A3-32E2-4C8B-1A8D046287AD}"/>
              </a:ext>
            </a:extLst>
          </p:cNvPr>
          <p:cNvSpPr>
            <a:spLocks noGrp="1"/>
          </p:cNvSpPr>
          <p:nvPr>
            <p:ph type="ctrTitle"/>
          </p:nvPr>
        </p:nvSpPr>
        <p:spPr>
          <a:xfrm>
            <a:off x="776749" y="127819"/>
            <a:ext cx="10766322" cy="3716594"/>
          </a:xfrm>
        </p:spPr>
        <p:txBody>
          <a:bodyPr>
            <a:normAutofit/>
          </a:bodyPr>
          <a:lstStyle/>
          <a:p>
            <a:r>
              <a:rPr lang="en-US" sz="5400" b="1" dirty="0">
                <a:latin typeface="Times New Roman" panose="02020603050405020304" pitchFamily="18" charset="0"/>
                <a:cs typeface="Times New Roman" panose="02020603050405020304" pitchFamily="18" charset="0"/>
              </a:rPr>
              <a:t>Tiny Pest </a:t>
            </a:r>
            <a:r>
              <a:rPr lang="en-IN" sz="5400" b="1" dirty="0">
                <a:latin typeface="Times New Roman" panose="02020603050405020304" pitchFamily="18" charset="0"/>
                <a:cs typeface="Times New Roman" panose="02020603050405020304" pitchFamily="18" charset="0"/>
              </a:rPr>
              <a:t>Intelligence</a:t>
            </a:r>
            <a:r>
              <a:rPr lang="en-US" sz="5400" b="1" dirty="0">
                <a:latin typeface="Times New Roman" panose="02020603050405020304" pitchFamily="18" charset="0"/>
                <a:cs typeface="Times New Roman" panose="02020603050405020304" pitchFamily="18" charset="0"/>
              </a:rPr>
              <a:t>: Multi-Class Detection and Recommendation System</a:t>
            </a:r>
            <a:br>
              <a:rPr lang="en-US" sz="5400" dirty="0">
                <a:latin typeface="Times New Roman" panose="02020603050405020304" pitchFamily="18" charset="0"/>
                <a:cs typeface="Times New Roman" panose="02020603050405020304" pitchFamily="18" charset="0"/>
              </a:rPr>
            </a:br>
            <a:endParaRPr lang="en-IN" sz="5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ECBC147-A9C8-6F2B-A050-1B06AF226601}"/>
              </a:ext>
            </a:extLst>
          </p:cNvPr>
          <p:cNvSpPr>
            <a:spLocks noGrp="1"/>
          </p:cNvSpPr>
          <p:nvPr>
            <p:ph type="subTitle" idx="1"/>
          </p:nvPr>
        </p:nvSpPr>
        <p:spPr>
          <a:xfrm>
            <a:off x="1042219" y="4080386"/>
            <a:ext cx="10176387" cy="2231923"/>
          </a:xfrm>
        </p:spPr>
        <p:txBody>
          <a:bodyPr>
            <a:normAutofit/>
          </a:bodyPr>
          <a:lstStyle/>
          <a:p>
            <a:pPr algn="r"/>
            <a:r>
              <a:rPr lang="en-IN" b="1" dirty="0">
                <a:latin typeface="Times New Roman" panose="02020603050405020304" pitchFamily="18" charset="0"/>
                <a:cs typeface="Times New Roman" panose="02020603050405020304" pitchFamily="18" charset="0"/>
              </a:rPr>
              <a:t>TEAM MEMBERS </a:t>
            </a:r>
          </a:p>
          <a:p>
            <a:pPr algn="r"/>
            <a:r>
              <a:rPr lang="en-IN" sz="2000" dirty="0">
                <a:latin typeface="Times New Roman" panose="02020603050405020304" pitchFamily="18" charset="0"/>
                <a:cs typeface="Times New Roman" panose="02020603050405020304" pitchFamily="18" charset="0"/>
              </a:rPr>
              <a:t>K.GOVARDHAN 22HP1A4245</a:t>
            </a:r>
          </a:p>
          <a:p>
            <a:pPr algn="r"/>
            <a:r>
              <a:rPr lang="en-IN" sz="2000" dirty="0">
                <a:latin typeface="Times New Roman" panose="02020603050405020304" pitchFamily="18" charset="0"/>
                <a:cs typeface="Times New Roman" panose="02020603050405020304" pitchFamily="18" charset="0"/>
              </a:rPr>
              <a:t>B.ANKAMMA 22HP1A4238        </a:t>
            </a:r>
          </a:p>
          <a:p>
            <a:pPr algn="r"/>
            <a:r>
              <a:rPr lang="en-IN" sz="2000" dirty="0">
                <a:latin typeface="Times New Roman" panose="02020603050405020304" pitchFamily="18" charset="0"/>
                <a:cs typeface="Times New Roman" panose="02020603050405020304" pitchFamily="18" charset="0"/>
              </a:rPr>
              <a:t>V.PADMAKANTH 22HP1A4253</a:t>
            </a:r>
          </a:p>
        </p:txBody>
      </p:sp>
      <p:sp>
        <p:nvSpPr>
          <p:cNvPr id="4" name="TextBox 3">
            <a:extLst>
              <a:ext uri="{FF2B5EF4-FFF2-40B4-BE49-F238E27FC236}">
                <a16:creationId xmlns:a16="http://schemas.microsoft.com/office/drawing/2014/main" id="{31191CEF-3EE4-C540-2BE5-8ECEAA629586}"/>
              </a:ext>
            </a:extLst>
          </p:cNvPr>
          <p:cNvSpPr txBox="1"/>
          <p:nvPr/>
        </p:nvSpPr>
        <p:spPr>
          <a:xfrm>
            <a:off x="1042219" y="4080386"/>
            <a:ext cx="4680156" cy="1569660"/>
          </a:xfrm>
          <a:prstGeom prst="rect">
            <a:avLst/>
          </a:prstGeom>
          <a:noFill/>
        </p:spPr>
        <p:txBody>
          <a:bodyPr wrap="square" rtlCol="0">
            <a:spAutoFit/>
          </a:bodyPr>
          <a:lstStyle/>
          <a:p>
            <a:r>
              <a:rPr lang="en-IN" sz="2400" b="1" dirty="0">
                <a:solidFill>
                  <a:schemeClr val="tx1">
                    <a:lumMod val="85000"/>
                    <a:lumOff val="15000"/>
                  </a:schemeClr>
                </a:solidFill>
                <a:latin typeface="Times New Roman" panose="02020603050405020304" pitchFamily="18" charset="0"/>
                <a:cs typeface="Times New Roman" panose="02020603050405020304" pitchFamily="18" charset="0"/>
              </a:rPr>
              <a:t>UNDER THE GUIDANCE OF</a:t>
            </a:r>
          </a:p>
          <a:p>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Mrs</a:t>
            </a: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D.ARCHANA  MADAM </a:t>
            </a:r>
          </a:p>
          <a:p>
            <a:r>
              <a:rPr lang="en-IN" sz="2400" dirty="0">
                <a:latin typeface="Times New Roman" panose="02020603050405020304" pitchFamily="18" charset="0"/>
                <a:cs typeface="Times New Roman" panose="02020603050405020304" pitchFamily="18" charset="0"/>
              </a:rPr>
              <a:t>Assistant Professor       CSE(AI&amp;ML ) Department</a:t>
            </a:r>
          </a:p>
        </p:txBody>
      </p:sp>
    </p:spTree>
    <p:extLst>
      <p:ext uri="{BB962C8B-B14F-4D97-AF65-F5344CB8AC3E}">
        <p14:creationId xmlns:p14="http://schemas.microsoft.com/office/powerpoint/2010/main" val="1246755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FA8F8-1D4A-9ECA-2BAA-7E9F467B9469}"/>
              </a:ext>
            </a:extLst>
          </p:cNvPr>
          <p:cNvSpPr>
            <a:spLocks noGrp="1"/>
          </p:cNvSpPr>
          <p:nvPr>
            <p:ph type="title"/>
          </p:nvPr>
        </p:nvSpPr>
        <p:spPr/>
        <p:txBody>
          <a:bodyPr>
            <a:normAutofit/>
          </a:bodyPr>
          <a:lstStyle/>
          <a:p>
            <a:r>
              <a:rPr lang="en-IN" sz="4000" b="1" dirty="0"/>
              <a:t>PROBLEM STATEMENT</a:t>
            </a:r>
          </a:p>
        </p:txBody>
      </p:sp>
      <p:sp>
        <p:nvSpPr>
          <p:cNvPr id="3" name="Content Placeholder 2">
            <a:extLst>
              <a:ext uri="{FF2B5EF4-FFF2-40B4-BE49-F238E27FC236}">
                <a16:creationId xmlns:a16="http://schemas.microsoft.com/office/drawing/2014/main" id="{02F6EB5C-3B29-BD0C-2E78-B163CA2DBA95}"/>
              </a:ext>
            </a:extLst>
          </p:cNvPr>
          <p:cNvSpPr>
            <a:spLocks noGrp="1"/>
          </p:cNvSpPr>
          <p:nvPr>
            <p:ph idx="1"/>
          </p:nvPr>
        </p:nvSpPr>
        <p:spPr>
          <a:xfrm>
            <a:off x="749710" y="1540489"/>
            <a:ext cx="10515600" cy="4351338"/>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In real-world farming, different crops are attacked by many types of tiny pests right from their early growth stages, making it impossible for a single-species system to protect the farm. Standard detection tools are mostly trained for only one pest, like the Aphid, and fail to identify the diverse range of small insects found in a multi-crop environment. Because these pests are extremely small and vary across different plant varieties, they are often missed or misidentified during the most critical early stages of infestation. This lack of a multi-pest detection system prevents farmers from knowing exactly which pest is attacking, leading to the wrong pesticide use and significant crop loss.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763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C2A07-42F7-B2DD-AB60-C512F06A3618}"/>
              </a:ext>
            </a:extLst>
          </p:cNvPr>
          <p:cNvSpPr>
            <a:spLocks noGrp="1"/>
          </p:cNvSpPr>
          <p:nvPr>
            <p:ph type="title"/>
          </p:nvPr>
        </p:nvSpPr>
        <p:spPr>
          <a:xfrm>
            <a:off x="648929" y="1"/>
            <a:ext cx="10704871" cy="1120876"/>
          </a:xfrm>
        </p:spPr>
        <p:txBody>
          <a:bodyPr/>
          <a:lstStyle/>
          <a:p>
            <a:r>
              <a:rPr lang="en-IN" b="1" dirty="0"/>
              <a:t>ABSTRACT</a:t>
            </a:r>
          </a:p>
        </p:txBody>
      </p:sp>
      <p:sp>
        <p:nvSpPr>
          <p:cNvPr id="3" name="Content Placeholder 2">
            <a:extLst>
              <a:ext uri="{FF2B5EF4-FFF2-40B4-BE49-F238E27FC236}">
                <a16:creationId xmlns:a16="http://schemas.microsoft.com/office/drawing/2014/main" id="{B5B9C9EA-AE84-83D2-EF0A-4197972FA6AF}"/>
              </a:ext>
            </a:extLst>
          </p:cNvPr>
          <p:cNvSpPr>
            <a:spLocks noGrp="1"/>
          </p:cNvSpPr>
          <p:nvPr>
            <p:ph idx="1"/>
          </p:nvPr>
        </p:nvSpPr>
        <p:spPr>
          <a:xfrm>
            <a:off x="550607" y="983226"/>
            <a:ext cx="11012128" cy="5874774"/>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The existing system uses Aphid-YOLO, a lightweight YOLOv8-based model designed to detect and count tiny aphids in complex field environments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The system does not address multi-pest detection, which limits its applicability in real agricultural scenarios where multiple pests co-exist. Detecting tiny pests in real-time field conditions is difficult due to noise, occlusion, and low image quality. Balancing high accuracy with lightweight models for real-time use is still a challenge. This project develops an advanced agricultural intelligence system by enhancing the YOLOv11 framework for high-precision Multi-Pest Detection. By integrating a P2 High-Resolution layer and NWD Loss, the model successfully identifies tiny and densely clustered pests from the Pest24 dataset that are often missed by standard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1292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289A6-E8ED-D981-E062-50FBD91BA47A}"/>
              </a:ext>
            </a:extLst>
          </p:cNvPr>
          <p:cNvSpPr>
            <a:spLocks noGrp="1"/>
          </p:cNvSpPr>
          <p:nvPr>
            <p:ph type="title"/>
          </p:nvPr>
        </p:nvSpPr>
        <p:spPr>
          <a:xfrm>
            <a:off x="838200" y="365126"/>
            <a:ext cx="10282084" cy="972062"/>
          </a:xfrm>
        </p:spPr>
        <p:txBody>
          <a:bodyPr>
            <a:normAutofit/>
          </a:bodyPr>
          <a:lstStyle/>
          <a:p>
            <a:r>
              <a:rPr lang="en-IN" sz="4000" b="1" dirty="0"/>
              <a:t> </a:t>
            </a:r>
            <a:r>
              <a:rPr lang="en-IN" sz="40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E0D4930A-34F8-EA75-C75E-9E9F1A43BA48}"/>
              </a:ext>
            </a:extLst>
          </p:cNvPr>
          <p:cNvSpPr>
            <a:spLocks noGrp="1"/>
          </p:cNvSpPr>
          <p:nvPr>
            <p:ph idx="1"/>
          </p:nvPr>
        </p:nvSpPr>
        <p:spPr>
          <a:xfrm>
            <a:off x="707923" y="1337187"/>
            <a:ext cx="10645877" cy="5155688"/>
          </a:xfrm>
        </p:spPr>
        <p:txBody>
          <a:bodyPr>
            <a:normAutofit lnSpcReduction="10000"/>
          </a:bodyPr>
          <a:lstStyle/>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Multi Tiny Pest Detection</a:t>
            </a:r>
            <a:r>
              <a:rPr lang="en-US" dirty="0">
                <a:latin typeface="Times New Roman" panose="02020603050405020304" pitchFamily="18" charset="0"/>
                <a:cs typeface="Times New Roman" panose="02020603050405020304" pitchFamily="18" charset="0"/>
              </a:rPr>
              <a:t>: To implement an enhanced YOLOv11-based detection model with a P2 high-resolution feature layer and NWD loss for accurate detection and counting of tiny pests in complex field backgrounds.</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Severity Estimation</a:t>
            </a:r>
            <a:r>
              <a:rPr lang="en-US" dirty="0">
                <a:latin typeface="Times New Roman" panose="02020603050405020304" pitchFamily="18" charset="0"/>
                <a:cs typeface="Times New Roman" panose="02020603050405020304" pitchFamily="18" charset="0"/>
              </a:rPr>
              <a:t>: To design a pest density analysis module that classifies infestation levels into Low, Medium, and High severity based on detected pest count and spatial distribution.</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LLM-Based Decision Support</a:t>
            </a:r>
            <a:r>
              <a:rPr lang="en-US" dirty="0">
                <a:latin typeface="Times New Roman" panose="02020603050405020304" pitchFamily="18" charset="0"/>
                <a:cs typeface="Times New Roman" panose="02020603050405020304" pitchFamily="18" charset="0"/>
              </a:rPr>
              <a:t>: To integrate Large Language Models (LLMs) with the vision system to enable control strategies, and treatment recommendations based on detected severity.</a:t>
            </a:r>
          </a:p>
          <a:p>
            <a:pPr marL="514350" indent="-514350">
              <a:buFont typeface="+mj-lt"/>
              <a:buAutoNum type="arabicPeriod"/>
            </a:pPr>
            <a:r>
              <a:rPr lang="en-US" b="1" dirty="0">
                <a:latin typeface="Times New Roman" panose="02020603050405020304" pitchFamily="18" charset="0"/>
                <a:cs typeface="Times New Roman" panose="02020603050405020304" pitchFamily="18" charset="0"/>
              </a:rPr>
              <a:t>Farmer-Centric Guidance</a:t>
            </a:r>
            <a:r>
              <a:rPr lang="en-US" dirty="0">
                <a:latin typeface="Times New Roman" panose="02020603050405020304" pitchFamily="18" charset="0"/>
                <a:cs typeface="Times New Roman" panose="02020603050405020304" pitchFamily="18" charset="0"/>
              </a:rPr>
              <a:t>: To provide actionable, real-time intervention suggestions that assist farmers in selecting the most effective pest management measures.</a:t>
            </a:r>
          </a:p>
        </p:txBody>
      </p:sp>
    </p:spTree>
    <p:extLst>
      <p:ext uri="{BB962C8B-B14F-4D97-AF65-F5344CB8AC3E}">
        <p14:creationId xmlns:p14="http://schemas.microsoft.com/office/powerpoint/2010/main" val="2274713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DA98CF-8873-6FE0-03E9-EF0AE857B00E}"/>
              </a:ext>
            </a:extLst>
          </p:cNvPr>
          <p:cNvSpPr>
            <a:spLocks noGrp="1"/>
          </p:cNvSpPr>
          <p:nvPr>
            <p:ph type="title"/>
          </p:nvPr>
        </p:nvSpPr>
        <p:spPr>
          <a:xfrm>
            <a:off x="723314" y="78658"/>
            <a:ext cx="10121666" cy="1091381"/>
          </a:xfrm>
        </p:spPr>
        <p:txBody>
          <a:bodyPr/>
          <a:lstStyle/>
          <a:p>
            <a:r>
              <a:rPr lang="en-IN" dirty="0">
                <a:latin typeface="Times New Roman" panose="02020603050405020304" pitchFamily="18" charset="0"/>
                <a:cs typeface="Times New Roman" panose="02020603050405020304" pitchFamily="18" charset="0"/>
              </a:rPr>
              <a:t>Literature Survey</a:t>
            </a:r>
          </a:p>
        </p:txBody>
      </p:sp>
      <p:graphicFrame>
        <p:nvGraphicFramePr>
          <p:cNvPr id="6" name="Table 5">
            <a:extLst>
              <a:ext uri="{FF2B5EF4-FFF2-40B4-BE49-F238E27FC236}">
                <a16:creationId xmlns:a16="http://schemas.microsoft.com/office/drawing/2014/main" id="{05F6BF3F-5449-9095-6E8D-263EC36183E4}"/>
              </a:ext>
            </a:extLst>
          </p:cNvPr>
          <p:cNvGraphicFramePr>
            <a:graphicFrameLocks noGrp="1"/>
          </p:cNvGraphicFramePr>
          <p:nvPr>
            <p:extLst>
              <p:ext uri="{D42A27DB-BD31-4B8C-83A1-F6EECF244321}">
                <p14:modId xmlns:p14="http://schemas.microsoft.com/office/powerpoint/2010/main" val="92520812"/>
              </p:ext>
            </p:extLst>
          </p:nvPr>
        </p:nvGraphicFramePr>
        <p:xfrm>
          <a:off x="825909" y="1170038"/>
          <a:ext cx="10336161" cy="4866966"/>
        </p:xfrm>
        <a:graphic>
          <a:graphicData uri="http://schemas.openxmlformats.org/drawingml/2006/table">
            <a:tbl>
              <a:tblPr>
                <a:tableStyleId>{616DA210-FB5B-4158-B5E0-FEB733F419BA}</a:tableStyleId>
              </a:tblPr>
              <a:tblGrid>
                <a:gridCol w="1976190">
                  <a:extLst>
                    <a:ext uri="{9D8B030D-6E8A-4147-A177-3AD203B41FA5}">
                      <a16:colId xmlns:a16="http://schemas.microsoft.com/office/drawing/2014/main" val="52548778"/>
                    </a:ext>
                  </a:extLst>
                </a:gridCol>
                <a:gridCol w="2110775">
                  <a:extLst>
                    <a:ext uri="{9D8B030D-6E8A-4147-A177-3AD203B41FA5}">
                      <a16:colId xmlns:a16="http://schemas.microsoft.com/office/drawing/2014/main" val="427336180"/>
                    </a:ext>
                  </a:extLst>
                </a:gridCol>
                <a:gridCol w="2069210">
                  <a:extLst>
                    <a:ext uri="{9D8B030D-6E8A-4147-A177-3AD203B41FA5}">
                      <a16:colId xmlns:a16="http://schemas.microsoft.com/office/drawing/2014/main" val="2651838783"/>
                    </a:ext>
                  </a:extLst>
                </a:gridCol>
                <a:gridCol w="2089993">
                  <a:extLst>
                    <a:ext uri="{9D8B030D-6E8A-4147-A177-3AD203B41FA5}">
                      <a16:colId xmlns:a16="http://schemas.microsoft.com/office/drawing/2014/main" val="1038787270"/>
                    </a:ext>
                  </a:extLst>
                </a:gridCol>
                <a:gridCol w="2089993">
                  <a:extLst>
                    <a:ext uri="{9D8B030D-6E8A-4147-A177-3AD203B41FA5}">
                      <a16:colId xmlns:a16="http://schemas.microsoft.com/office/drawing/2014/main" val="545446379"/>
                    </a:ext>
                  </a:extLst>
                </a:gridCol>
              </a:tblGrid>
              <a:tr h="569224">
                <a:tc>
                  <a:txBody>
                    <a:bodyPr/>
                    <a:lstStyle/>
                    <a:p>
                      <a:pPr rtl="0">
                        <a:buNone/>
                      </a:pPr>
                      <a:r>
                        <a:rPr lang="en-IN" sz="1300" b="1" dirty="0">
                          <a:solidFill>
                            <a:srgbClr val="1F1F1F"/>
                          </a:solidFill>
                          <a:effectLst/>
                        </a:rPr>
                        <a:t>Author </a:t>
                      </a:r>
                      <a:endParaRPr lang="en-IN" sz="1300" b="1"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1" dirty="0">
                          <a:solidFill>
                            <a:srgbClr val="1F1F1F"/>
                          </a:solidFill>
                          <a:effectLst/>
                        </a:rPr>
                        <a:t>Model / Methodology</a:t>
                      </a:r>
                      <a:endParaRPr lang="en-IN" sz="1300" b="1"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1" dirty="0">
                          <a:solidFill>
                            <a:srgbClr val="1F1F1F"/>
                          </a:solidFill>
                          <a:effectLst/>
                        </a:rPr>
                        <a:t>Key Contribution</a:t>
                      </a:r>
                      <a:endParaRPr lang="en-IN" sz="1300" b="1"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1" dirty="0">
                          <a:solidFill>
                            <a:srgbClr val="1F1F1F"/>
                          </a:solidFill>
                          <a:effectLst/>
                        </a:rPr>
                        <a:t>Limitation</a:t>
                      </a:r>
                      <a:endParaRPr lang="en-IN" sz="1300" b="1"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1" dirty="0">
                          <a:solidFill>
                            <a:srgbClr val="1F1F1F"/>
                          </a:solidFill>
                          <a:effectLst/>
                        </a:rPr>
                        <a:t>Relevance to Project</a:t>
                      </a:r>
                      <a:endParaRPr lang="en-IN" sz="1300" b="1"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extLst>
                  <a:ext uri="{0D108BD9-81ED-4DB2-BD59-A6C34878D82A}">
                    <a16:rowId xmlns:a16="http://schemas.microsoft.com/office/drawing/2014/main" val="205712449"/>
                  </a:ext>
                </a:extLst>
              </a:tr>
              <a:tr h="1064790">
                <a:tc>
                  <a:txBody>
                    <a:bodyPr/>
                    <a:lstStyle/>
                    <a:p>
                      <a:pPr rtl="0">
                        <a:buNone/>
                      </a:pPr>
                      <a:r>
                        <a:rPr lang="da-DK" sz="1300" b="0" dirty="0">
                          <a:solidFill>
                            <a:srgbClr val="1F1F1F"/>
                          </a:solidFill>
                          <a:effectLst/>
                        </a:rPr>
                        <a:t>Lin et al. (Standard YOLO)</a:t>
                      </a:r>
                      <a:endParaRPr lang="da-DK"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0" dirty="0">
                          <a:solidFill>
                            <a:srgbClr val="1F1F1F"/>
                          </a:solidFill>
                          <a:effectLst/>
                        </a:rPr>
                        <a:t>YOLOv5 / YOLOv8</a:t>
                      </a:r>
                      <a:endParaRPr lang="en-IN"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a:solidFill>
                            <a:srgbClr val="1F1F1F"/>
                          </a:solidFill>
                          <a:effectLst/>
                        </a:rPr>
                        <a:t>Real-time object detection using CSPDarknet.</a:t>
                      </a:r>
                      <a:endParaRPr lang="en-US" sz="1300" b="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a:solidFill>
                            <a:srgbClr val="1F1F1F"/>
                          </a:solidFill>
                          <a:effectLst/>
                        </a:rPr>
                        <a:t>Struggles with "Tiny Objects"  as features vanish in deep layers.</a:t>
                      </a:r>
                      <a:endParaRPr lang="en-US" sz="1300" b="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Provides the basic framework for real-time detection.</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extLst>
                  <a:ext uri="{0D108BD9-81ED-4DB2-BD59-A6C34878D82A}">
                    <a16:rowId xmlns:a16="http://schemas.microsoft.com/office/drawing/2014/main" val="1325525972"/>
                  </a:ext>
                </a:extLst>
              </a:tr>
              <a:tr h="1063384">
                <a:tc>
                  <a:txBody>
                    <a:bodyPr/>
                    <a:lstStyle/>
                    <a:p>
                      <a:pPr rtl="0">
                        <a:buNone/>
                      </a:pPr>
                      <a:r>
                        <a:rPr lang="en-IN" sz="1300" b="0" dirty="0">
                          <a:solidFill>
                            <a:srgbClr val="1F1F1F"/>
                          </a:solidFill>
                          <a:effectLst/>
                        </a:rPr>
                        <a:t>Wang et al. ()</a:t>
                      </a:r>
                      <a:endParaRPr lang="en-IN"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0" dirty="0">
                          <a:solidFill>
                            <a:srgbClr val="1F1F1F"/>
                          </a:solidFill>
                          <a:effectLst/>
                        </a:rPr>
                        <a:t>Faster R-CNN / SSD</a:t>
                      </a:r>
                      <a:endParaRPr lang="en-IN"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0">
                          <a:solidFill>
                            <a:srgbClr val="1F1F1F"/>
                          </a:solidFill>
                          <a:effectLst/>
                        </a:rPr>
                        <a:t>Large-scale multi-target agricultural pest dataset.</a:t>
                      </a:r>
                      <a:endParaRPr lang="en-IN" sz="1300" b="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computational cost;  suitable for real-time mobile use.</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Primary data source for training your multi-class model.</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extLst>
                  <a:ext uri="{0D108BD9-81ED-4DB2-BD59-A6C34878D82A}">
                    <a16:rowId xmlns:a16="http://schemas.microsoft.com/office/drawing/2014/main" val="3445337507"/>
                  </a:ext>
                </a:extLst>
              </a:tr>
              <a:tr h="1034954">
                <a:tc>
                  <a:txBody>
                    <a:bodyPr/>
                    <a:lstStyle/>
                    <a:p>
                      <a:pPr rtl="0">
                        <a:buNone/>
                      </a:pPr>
                      <a:r>
                        <a:rPr lang="en-IN" sz="1300" b="0" dirty="0">
                          <a:solidFill>
                            <a:srgbClr val="1F1F1F"/>
                          </a:solidFill>
                          <a:effectLst/>
                        </a:rPr>
                        <a:t>Zheng et al.</a:t>
                      </a:r>
                      <a:endParaRPr lang="en-IN"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0" dirty="0">
                          <a:solidFill>
                            <a:srgbClr val="1F1F1F"/>
                          </a:solidFill>
                          <a:effectLst/>
                        </a:rPr>
                        <a:t>Aphid-YOLO (A-YOLO)</a:t>
                      </a:r>
                      <a:endParaRPr lang="en-IN"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err="1">
                          <a:solidFill>
                            <a:srgbClr val="1F1F1F"/>
                          </a:solidFill>
                          <a:effectLst/>
                        </a:rPr>
                        <a:t>TPANet</a:t>
                      </a:r>
                      <a:r>
                        <a:rPr lang="en-US" sz="1300" b="0" dirty="0">
                          <a:solidFill>
                            <a:srgbClr val="1F1F1F"/>
                          </a:solidFill>
                          <a:effectLst/>
                        </a:rPr>
                        <a:t> tiny pest detection.</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Focuses only on counting; no decision-making or mapping.</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Core Architecture for your pest detection engine.</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extLst>
                  <a:ext uri="{0D108BD9-81ED-4DB2-BD59-A6C34878D82A}">
                    <a16:rowId xmlns:a16="http://schemas.microsoft.com/office/drawing/2014/main" val="4040310562"/>
                  </a:ext>
                </a:extLst>
              </a:tr>
              <a:tr h="1134614">
                <a:tc>
                  <a:txBody>
                    <a:bodyPr/>
                    <a:lstStyle/>
                    <a:p>
                      <a:pPr rtl="0">
                        <a:buNone/>
                      </a:pPr>
                      <a:r>
                        <a:rPr lang="da-DK" sz="1300" b="0" dirty="0">
                          <a:solidFill>
                            <a:srgbClr val="1F1F1F"/>
                          </a:solidFill>
                          <a:effectLst/>
                        </a:rPr>
                        <a:t>Du et al. </a:t>
                      </a:r>
                      <a:endParaRPr lang="da-DK"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IN" sz="1300" b="0" dirty="0">
                          <a:solidFill>
                            <a:srgbClr val="1F1F1F"/>
                          </a:solidFill>
                          <a:effectLst/>
                        </a:rPr>
                        <a:t>Density-based Clustering</a:t>
                      </a:r>
                      <a:endParaRPr lang="en-IN"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Identification of densely clustered pests in the wild.</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No GPS integration or field-wide visualization.</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tc>
                  <a:txBody>
                    <a:bodyPr/>
                    <a:lstStyle/>
                    <a:p>
                      <a:pPr rtl="0">
                        <a:buNone/>
                      </a:pPr>
                      <a:r>
                        <a:rPr lang="en-US" sz="1300" b="0" dirty="0">
                          <a:solidFill>
                            <a:srgbClr val="1F1F1F"/>
                          </a:solidFill>
                          <a:effectLst/>
                        </a:rPr>
                        <a:t>Logic used for your Severity Estimation (Density analysis).</a:t>
                      </a:r>
                      <a:endParaRPr lang="en-US" sz="1300" b="0" dirty="0">
                        <a:solidFill>
                          <a:srgbClr val="1F1F1F"/>
                        </a:solidFill>
                        <a:effectLst/>
                        <a:latin typeface="Times New Roman" panose="02020603050405020304" pitchFamily="18" charset="0"/>
                        <a:cs typeface="Times New Roman" panose="02020603050405020304" pitchFamily="18" charset="0"/>
                      </a:endParaRPr>
                    </a:p>
                  </a:txBody>
                  <a:tcPr marL="63990" marR="63990" marT="42660" marB="42660" anchor="ctr"/>
                </a:tc>
                <a:extLst>
                  <a:ext uri="{0D108BD9-81ED-4DB2-BD59-A6C34878D82A}">
                    <a16:rowId xmlns:a16="http://schemas.microsoft.com/office/drawing/2014/main" val="2917679247"/>
                  </a:ext>
                </a:extLst>
              </a:tr>
            </a:tbl>
          </a:graphicData>
        </a:graphic>
      </p:graphicFrame>
    </p:spTree>
    <p:extLst>
      <p:ext uri="{BB962C8B-B14F-4D97-AF65-F5344CB8AC3E}">
        <p14:creationId xmlns:p14="http://schemas.microsoft.com/office/powerpoint/2010/main" val="3475760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BD3EC-4600-0EB3-DFB7-ADD1C6097ACB}"/>
              </a:ext>
            </a:extLst>
          </p:cNvPr>
          <p:cNvSpPr>
            <a:spLocks noGrp="1"/>
          </p:cNvSpPr>
          <p:nvPr>
            <p:ph type="ctrTitle"/>
          </p:nvPr>
        </p:nvSpPr>
        <p:spPr>
          <a:xfrm>
            <a:off x="1288026" y="393291"/>
            <a:ext cx="9379974" cy="737420"/>
          </a:xfrm>
        </p:spPr>
        <p:txBody>
          <a:bodyPr>
            <a:normAutofit/>
          </a:bodyPr>
          <a:lstStyle/>
          <a:p>
            <a:pPr algn="l"/>
            <a:r>
              <a:rPr lang="en-IN" sz="4000" dirty="0">
                <a:latin typeface="Times New Roman" panose="02020603050405020304" pitchFamily="18" charset="0"/>
                <a:cs typeface="Times New Roman" panose="02020603050405020304" pitchFamily="18" charset="0"/>
              </a:rPr>
              <a:t>REQUIREMENTS</a:t>
            </a:r>
          </a:p>
        </p:txBody>
      </p:sp>
      <p:sp>
        <p:nvSpPr>
          <p:cNvPr id="3" name="Subtitle 2">
            <a:extLst>
              <a:ext uri="{FF2B5EF4-FFF2-40B4-BE49-F238E27FC236}">
                <a16:creationId xmlns:a16="http://schemas.microsoft.com/office/drawing/2014/main" id="{6405F2AC-E3BA-81B3-AE80-C34B25CE5301}"/>
              </a:ext>
            </a:extLst>
          </p:cNvPr>
          <p:cNvSpPr>
            <a:spLocks noGrp="1"/>
          </p:cNvSpPr>
          <p:nvPr>
            <p:ph type="subTitle" idx="1"/>
          </p:nvPr>
        </p:nvSpPr>
        <p:spPr>
          <a:xfrm>
            <a:off x="1288026" y="1602658"/>
            <a:ext cx="10013958" cy="4129548"/>
          </a:xfrm>
        </p:spPr>
        <p:txBody>
          <a:bodyPr>
            <a:normAutofit/>
          </a:bodyPr>
          <a:lstStyle/>
          <a:p>
            <a:pPr marL="342900" indent="-342900" algn="l">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Operating System:</a:t>
            </a:r>
            <a:r>
              <a:rPr lang="en-IN" sz="2800" dirty="0">
                <a:latin typeface="Times New Roman" panose="02020603050405020304" pitchFamily="18" charset="0"/>
                <a:cs typeface="Times New Roman" panose="02020603050405020304" pitchFamily="18" charset="0"/>
              </a:rPr>
              <a:t> Windows / Linux</a:t>
            </a:r>
          </a:p>
          <a:p>
            <a:pPr marL="342900" indent="-342900" algn="l">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Programming Language:</a:t>
            </a:r>
            <a:r>
              <a:rPr lang="en-US" sz="2800" dirty="0">
                <a:latin typeface="Times New Roman" panose="02020603050405020304" pitchFamily="18" charset="0"/>
                <a:cs typeface="Times New Roman" panose="02020603050405020304" pitchFamily="18" charset="0"/>
              </a:rPr>
              <a:t> Python 3.8 or above</a:t>
            </a:r>
          </a:p>
          <a:p>
            <a:pPr marL="342900" indent="-342900" algn="l">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Deep Learning Framework:</a:t>
            </a:r>
            <a:r>
              <a:rPr lang="en-IN" sz="2800" dirty="0">
                <a:latin typeface="Times New Roman" panose="02020603050405020304" pitchFamily="18" charset="0"/>
                <a:cs typeface="Times New Roman" panose="02020603050405020304" pitchFamily="18" charset="0"/>
              </a:rPr>
              <a:t> Tensorflow / PyTorch</a:t>
            </a:r>
          </a:p>
          <a:p>
            <a:pPr marL="342900" indent="-342900" algn="l">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Object Detection Model:</a:t>
            </a:r>
            <a:r>
              <a:rPr lang="en-IN" sz="2800" dirty="0">
                <a:latin typeface="Times New Roman" panose="02020603050405020304" pitchFamily="18" charset="0"/>
                <a:cs typeface="Times New Roman" panose="02020603050405020304" pitchFamily="18" charset="0"/>
              </a:rPr>
              <a:t> YOLOv11</a:t>
            </a:r>
          </a:p>
          <a:p>
            <a:pPr marL="342900" indent="-342900" algn="l">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Computer Vision Library:</a:t>
            </a:r>
            <a:r>
              <a:rPr lang="en-IN" sz="2800" dirty="0">
                <a:latin typeface="Times New Roman" panose="02020603050405020304" pitchFamily="18" charset="0"/>
                <a:cs typeface="Times New Roman" panose="02020603050405020304" pitchFamily="18" charset="0"/>
              </a:rPr>
              <a:t> OpenCV</a:t>
            </a:r>
          </a:p>
          <a:p>
            <a:pPr marL="342900" indent="-342900" algn="l">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Data Handling:</a:t>
            </a:r>
            <a:r>
              <a:rPr lang="en-IN" sz="2800" dirty="0">
                <a:latin typeface="Times New Roman" panose="02020603050405020304" pitchFamily="18" charset="0"/>
                <a:cs typeface="Times New Roman" panose="02020603050405020304" pitchFamily="18" charset="0"/>
              </a:rPr>
              <a:t> NumPy, Pandas</a:t>
            </a:r>
          </a:p>
          <a:p>
            <a:pPr marL="342900" indent="-342900" algn="l">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LLM Integration:</a:t>
            </a:r>
            <a:r>
              <a:rPr lang="en-US" sz="2800" dirty="0">
                <a:latin typeface="Times New Roman" panose="02020603050405020304" pitchFamily="18" charset="0"/>
                <a:cs typeface="Times New Roman" panose="02020603050405020304" pitchFamily="18" charset="0"/>
              </a:rPr>
              <a:t> Open-source LLM (recommendations)</a:t>
            </a:r>
          </a:p>
          <a:p>
            <a:pPr marL="342900" indent="-342900" algn="l">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Development Environment:</a:t>
            </a:r>
            <a:r>
              <a:rPr lang="en-IN" sz="2800" dirty="0">
                <a:latin typeface="Times New Roman" panose="02020603050405020304" pitchFamily="18" charset="0"/>
                <a:cs typeface="Times New Roman" panose="02020603050405020304" pitchFamily="18" charset="0"/>
              </a:rPr>
              <a:t> Jupyter Notebook / Google </a:t>
            </a:r>
            <a:r>
              <a:rPr lang="en-IN" sz="2800" dirty="0" err="1">
                <a:latin typeface="Times New Roman" panose="02020603050405020304" pitchFamily="18" charset="0"/>
                <a:cs typeface="Times New Roman" panose="02020603050405020304" pitchFamily="18" charset="0"/>
              </a:rPr>
              <a:t>Colab</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4598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6AF7F-285F-2518-3648-1F01A84D642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FEASIBILITY STUDY</a:t>
            </a:r>
          </a:p>
        </p:txBody>
      </p:sp>
      <p:sp>
        <p:nvSpPr>
          <p:cNvPr id="3" name="Content Placeholder 2">
            <a:extLst>
              <a:ext uri="{FF2B5EF4-FFF2-40B4-BE49-F238E27FC236}">
                <a16:creationId xmlns:a16="http://schemas.microsoft.com/office/drawing/2014/main" id="{9256DD78-1CB5-22A1-DB02-26A62D957FE2}"/>
              </a:ext>
            </a:extLst>
          </p:cNvPr>
          <p:cNvSpPr>
            <a:spLocks noGrp="1"/>
          </p:cNvSpPr>
          <p:nvPr>
            <p:ph idx="1"/>
          </p:nvPr>
        </p:nvSpPr>
        <p:spPr/>
        <p:txBody>
          <a:bodyPr/>
          <a:lstStyle/>
          <a:p>
            <a:r>
              <a:rPr lang="en-IN" sz="2000" b="1" dirty="0">
                <a:latin typeface="Times New Roman" panose="02020603050405020304" pitchFamily="18" charset="0"/>
                <a:cs typeface="Times New Roman" panose="02020603050405020304" pitchFamily="18" charset="0"/>
              </a:rPr>
              <a:t>Technical Feasibility</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Android phones works with images from mobile and field cameras.</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YOLO models support real-time detection</a:t>
            </a:r>
          </a:p>
          <a:p>
            <a:pPr marL="514350" indent="-514350">
              <a:buFont typeface="+mj-lt"/>
              <a:buAutoNum type="arabicPeriod"/>
            </a:pPr>
            <a:r>
              <a:rPr lang="en-US" sz="2000" dirty="0">
                <a:latin typeface="Times New Roman" panose="02020603050405020304" pitchFamily="18" charset="0"/>
                <a:cs typeface="Times New Roman" panose="02020603050405020304" pitchFamily="18" charset="0"/>
              </a:rPr>
              <a:t>TensorFlow Lite enables mobile deployment</a:t>
            </a:r>
          </a:p>
          <a:p>
            <a:r>
              <a:rPr lang="en-IN" sz="2000" b="1" dirty="0">
                <a:latin typeface="Times New Roman" panose="02020603050405020304" pitchFamily="18" charset="0"/>
                <a:cs typeface="Times New Roman" panose="02020603050405020304" pitchFamily="18" charset="0"/>
              </a:rPr>
              <a:t>Economic Feasibility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Uses existing smartphones or cameras.</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Built with open-source tools only.</a:t>
            </a:r>
          </a:p>
          <a:p>
            <a:r>
              <a:rPr lang="en-IN" sz="2000" b="1" dirty="0">
                <a:latin typeface="Times New Roman" panose="02020603050405020304" pitchFamily="18" charset="0"/>
                <a:cs typeface="Times New Roman" panose="02020603050405020304" pitchFamily="18" charset="0"/>
              </a:rPr>
              <a:t>Operational Feasibility</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Simple  &amp; Easy-to-use interface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Provides automatic severity and control guidance.</a:t>
            </a:r>
          </a:p>
          <a:p>
            <a:pPr marL="0" indent="0">
              <a:buNone/>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000" b="1" dirty="0">
              <a:latin typeface="Times New Roman" panose="02020603050405020304" pitchFamily="18" charset="0"/>
              <a:cs typeface="Times New Roman" panose="02020603050405020304" pitchFamily="18" charset="0"/>
            </a:endParaRPr>
          </a:p>
          <a:p>
            <a:pPr marL="0" indent="0">
              <a:buNone/>
            </a:pP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5318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997AD-3CB0-D7EF-B3A1-09012CD45EAF}"/>
              </a:ext>
            </a:extLst>
          </p:cNvPr>
          <p:cNvSpPr>
            <a:spLocks noGrp="1"/>
          </p:cNvSpPr>
          <p:nvPr>
            <p:ph type="title"/>
          </p:nvPr>
        </p:nvSpPr>
        <p:spPr>
          <a:xfrm>
            <a:off x="806245" y="365125"/>
            <a:ext cx="10547555" cy="913069"/>
          </a:xfrm>
        </p:spPr>
        <p:txBody>
          <a:bodyPr/>
          <a:lstStyle/>
          <a:p>
            <a:r>
              <a:rPr lang="en-IN" dirty="0"/>
              <a:t>System Architecture</a:t>
            </a:r>
          </a:p>
        </p:txBody>
      </p:sp>
      <p:pic>
        <p:nvPicPr>
          <p:cNvPr id="15" name="Content Placeholder 14">
            <a:extLst>
              <a:ext uri="{FF2B5EF4-FFF2-40B4-BE49-F238E27FC236}">
                <a16:creationId xmlns:a16="http://schemas.microsoft.com/office/drawing/2014/main" id="{6C7854C7-BDCC-4D8C-926D-4147A00AAA4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4433" b="59675"/>
          <a:stretch>
            <a:fillRect/>
          </a:stretch>
        </p:blipFill>
        <p:spPr>
          <a:xfrm>
            <a:off x="1034705" y="1744981"/>
            <a:ext cx="8727148" cy="2745996"/>
          </a:xfrm>
          <a:prstGeom prst="rect">
            <a:avLst/>
          </a:prstGeom>
        </p:spPr>
      </p:pic>
    </p:spTree>
    <p:extLst>
      <p:ext uri="{BB962C8B-B14F-4D97-AF65-F5344CB8AC3E}">
        <p14:creationId xmlns:p14="http://schemas.microsoft.com/office/powerpoint/2010/main" val="3949137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BF44E-1F89-C61F-6AC9-5FF839C2AB55}"/>
              </a:ext>
            </a:extLst>
          </p:cNvPr>
          <p:cNvSpPr>
            <a:spLocks noGrp="1"/>
          </p:cNvSpPr>
          <p:nvPr>
            <p:ph type="title"/>
          </p:nvPr>
        </p:nvSpPr>
        <p:spPr/>
        <p:txBody>
          <a:bodyPr/>
          <a:lstStyle/>
          <a:p>
            <a:r>
              <a:rPr lang="en-IN" dirty="0"/>
              <a:t>Methodology</a:t>
            </a:r>
          </a:p>
        </p:txBody>
      </p:sp>
      <p:pic>
        <p:nvPicPr>
          <p:cNvPr id="9" name="Content Placeholder 8">
            <a:extLst>
              <a:ext uri="{FF2B5EF4-FFF2-40B4-BE49-F238E27FC236}">
                <a16:creationId xmlns:a16="http://schemas.microsoft.com/office/drawing/2014/main" id="{845061F7-C37A-804C-D07E-38B5809AE50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39616" b="7057"/>
          <a:stretch>
            <a:fillRect/>
          </a:stretch>
        </p:blipFill>
        <p:spPr>
          <a:xfrm>
            <a:off x="1700980" y="1573161"/>
            <a:ext cx="9517625" cy="4296697"/>
          </a:xfrm>
          <a:prstGeom prst="rect">
            <a:avLst/>
          </a:prstGeom>
        </p:spPr>
      </p:pic>
    </p:spTree>
    <p:extLst>
      <p:ext uri="{BB962C8B-B14F-4D97-AF65-F5344CB8AC3E}">
        <p14:creationId xmlns:p14="http://schemas.microsoft.com/office/powerpoint/2010/main" val="3187817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1792B-B105-7132-AA38-3CE68BDDB33F}"/>
              </a:ext>
            </a:extLst>
          </p:cNvPr>
          <p:cNvSpPr>
            <a:spLocks noGrp="1"/>
          </p:cNvSpPr>
          <p:nvPr>
            <p:ph type="title"/>
          </p:nvPr>
        </p:nvSpPr>
        <p:spPr/>
        <p:txBody>
          <a:bodyPr/>
          <a:lstStyle/>
          <a:p>
            <a:r>
              <a:rPr lang="en-IN" dirty="0"/>
              <a:t>Current Progress</a:t>
            </a:r>
          </a:p>
        </p:txBody>
      </p:sp>
      <p:pic>
        <p:nvPicPr>
          <p:cNvPr id="6" name="Content Placeholder 5">
            <a:extLst>
              <a:ext uri="{FF2B5EF4-FFF2-40B4-BE49-F238E27FC236}">
                <a16:creationId xmlns:a16="http://schemas.microsoft.com/office/drawing/2014/main" id="{396C1503-6E32-4ADC-E0C7-29CBF070EE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684520" y="1825625"/>
            <a:ext cx="5913120" cy="4351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3296B41-3710-C103-E9FC-D4C96EB501E2}"/>
              </a:ext>
            </a:extLst>
          </p:cNvPr>
          <p:cNvSpPr txBox="1"/>
          <p:nvPr/>
        </p:nvSpPr>
        <p:spPr>
          <a:xfrm>
            <a:off x="838200" y="2042160"/>
            <a:ext cx="4053840" cy="1477328"/>
          </a:xfrm>
          <a:prstGeom prst="rect">
            <a:avLst/>
          </a:prstGeom>
          <a:noFill/>
        </p:spPr>
        <p:txBody>
          <a:bodyPr wrap="square" rtlCol="0">
            <a:spAutoFit/>
          </a:bodyPr>
          <a:lstStyle/>
          <a:p>
            <a:pPr marL="285750" indent="-285750">
              <a:buFont typeface="Arial" panose="020B0604020202020204" pitchFamily="34" charset="0"/>
              <a:buChar char="•"/>
            </a:pPr>
            <a:r>
              <a:rPr lang="en-IN" dirty="0"/>
              <a:t>Implementing the user interface</a:t>
            </a:r>
          </a:p>
          <a:p>
            <a:pPr marL="285750" indent="-285750">
              <a:buFont typeface="Arial" panose="020B0604020202020204" pitchFamily="34" charset="0"/>
              <a:buChar char="•"/>
            </a:pPr>
            <a:r>
              <a:rPr lang="en-IN" dirty="0"/>
              <a:t>Model  as yolo11 and adding p2 resolution layer </a:t>
            </a:r>
          </a:p>
          <a:p>
            <a:pPr marL="285750" indent="-285750">
              <a:buFont typeface="Arial" panose="020B0604020202020204" pitchFamily="34" charset="0"/>
              <a:buChar char="•"/>
            </a:pPr>
            <a:r>
              <a:rPr lang="en-IN" dirty="0"/>
              <a:t>  working abstraction for submission to conference paper</a:t>
            </a:r>
          </a:p>
        </p:txBody>
      </p:sp>
    </p:spTree>
    <p:extLst>
      <p:ext uri="{BB962C8B-B14F-4D97-AF65-F5344CB8AC3E}">
        <p14:creationId xmlns:p14="http://schemas.microsoft.com/office/powerpoint/2010/main" val="4038438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E76D1-2284-0D7D-447A-E2B358F1F7DC}"/>
              </a:ext>
            </a:extLst>
          </p:cNvPr>
          <p:cNvSpPr>
            <a:spLocks noGrp="1"/>
          </p:cNvSpPr>
          <p:nvPr>
            <p:ph type="title"/>
          </p:nvPr>
        </p:nvSpPr>
        <p:spPr/>
        <p:txBody>
          <a:bodyPr/>
          <a:lstStyle/>
          <a:p>
            <a:r>
              <a:rPr lang="en-IN" dirty="0"/>
              <a:t>Publication Details</a:t>
            </a:r>
          </a:p>
        </p:txBody>
      </p:sp>
      <p:pic>
        <p:nvPicPr>
          <p:cNvPr id="5" name="Content Placeholder 4">
            <a:extLst>
              <a:ext uri="{FF2B5EF4-FFF2-40B4-BE49-F238E27FC236}">
                <a16:creationId xmlns:a16="http://schemas.microsoft.com/office/drawing/2014/main" id="{E43E951A-B40D-52CC-6598-C06F2B711D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9528" y="1825625"/>
            <a:ext cx="9572943" cy="4351338"/>
          </a:xfrm>
          <a:prstGeom prst="rect">
            <a:avLst/>
          </a:prstGeom>
        </p:spPr>
      </p:pic>
    </p:spTree>
    <p:extLst>
      <p:ext uri="{BB962C8B-B14F-4D97-AF65-F5344CB8AC3E}">
        <p14:creationId xmlns:p14="http://schemas.microsoft.com/office/powerpoint/2010/main" val="20899812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602</TotalTime>
  <Words>688</Words>
  <Application>Microsoft Office PowerPoint</Application>
  <PresentationFormat>Widescreen</PresentationFormat>
  <Paragraphs>71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Tiny Pest Intelligence: Multi-Class Detection and Recommendation System </vt:lpstr>
      <vt:lpstr>PROBLEM STATEMENT</vt:lpstr>
      <vt:lpstr>ABSTRACT</vt:lpstr>
      <vt:lpstr> Objectives</vt:lpstr>
      <vt:lpstr>Literature Survey</vt:lpstr>
      <vt:lpstr>REQUIREMENTS</vt:lpstr>
      <vt:lpstr>FEASIBILITY STUDY</vt:lpstr>
      <vt:lpstr>System Architecture</vt:lpstr>
      <vt:lpstr>Methodology</vt:lpstr>
      <vt:lpstr>Current Progress</vt:lpstr>
      <vt:lpstr>Publication Details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Padmakanth V</dc:creator>
  <cp:lastModifiedBy>Padmakanth V</cp:lastModifiedBy>
  <cp:revision>16</cp:revision>
  <dcterms:created xsi:type="dcterms:W3CDTF">2026-01-28T15:39:32Z</dcterms:created>
  <dcterms:modified xsi:type="dcterms:W3CDTF">2026-02-16T04:56:42Z</dcterms:modified>
</cp:coreProperties>
</file>